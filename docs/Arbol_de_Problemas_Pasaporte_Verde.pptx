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914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400" b="1">
                <a:solidFill>
                  <a:srgbClr val="14532D"/>
                </a:solidFill>
                <a:latin typeface="Cambria"/>
              </a:rPr>
              <a:t>Árbol de problemas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75488"/>
            <a:ext cx="115214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100" b="0">
                <a:solidFill>
                  <a:srgbClr val="64736C"/>
                </a:solidFill>
                <a:latin typeface="Calibri"/>
              </a:rPr>
              <a:t>Sistema de acreditación de origen de la producción en el Caquetá  ·  Situación actual (AS-IS)  ·  Análisis por actores, datos, procesos y mecanismos de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841248"/>
            <a:ext cx="292608" cy="1920240"/>
          </a:xfrm>
          <a:prstGeom prst="roundRect">
            <a:avLst>
              <a:gd name="adj" fmla="val 25000"/>
            </a:avLst>
          </a:prstGeom>
          <a:solidFill>
            <a:srgbClr val="F0C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vert270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EFECTOS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2980944"/>
            <a:ext cx="292608" cy="1188720"/>
          </a:xfrm>
          <a:prstGeom prst="roundRect">
            <a:avLst>
              <a:gd name="adj" fmla="val 25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vert27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4407408"/>
            <a:ext cx="292608" cy="1956815"/>
          </a:xfrm>
          <a:prstGeom prst="roundRect">
            <a:avLst>
              <a:gd name="adj" fmla="val 25000"/>
            </a:avLst>
          </a:prstGeom>
          <a:solidFill>
            <a:srgbClr val="647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vert27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CAUSAS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841248"/>
            <a:ext cx="8778240" cy="420624"/>
          </a:xfrm>
          <a:prstGeom prst="roundRect">
            <a:avLst>
              <a:gd name="adj" fmla="val 12000"/>
            </a:avLst>
          </a:prstGeom>
          <a:solidFill>
            <a:srgbClr val="F0C75E"/>
          </a:solidFill>
          <a:ln w="1905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4532D"/>
                </a:solidFill>
                <a:latin typeface="Cambria"/>
              </a:rPr>
              <a:t>El pequeño productor queda excluido de la cadena formal de comercialización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3627120" cy="512064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F0C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D26"/>
                </a:solidFill>
                <a:latin typeface="Calibri"/>
              </a:rPr>
              <a:t>Operaciones perdidas o castigadas en precio: pierde los mercados que mejor pagan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8368" y="1463040"/>
            <a:ext cx="3627120" cy="512064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F0C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D26"/>
                </a:solidFill>
                <a:latin typeface="Calibri"/>
              </a:rPr>
              <a:t>Queda asociado por defecto a la deforestación, aunque no la haya causado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3503" y="1463040"/>
            <a:ext cx="3627120" cy="512064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F0C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F2D26"/>
                </a:solidFill>
                <a:latin typeface="Calibri"/>
              </a:rPr>
              <a:t>El costo de cumplir recae en quien menos puede asumirlo y se amplía la brecha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194560"/>
            <a:ext cx="2688336" cy="566928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Actores: </a:t>
            </a:r>
            <a:r>
              <a:rPr sz="1050" b="0">
                <a:solidFill>
                  <a:srgbClr val="1F2D26"/>
                </a:solidFill>
                <a:latin typeface="Calibri"/>
              </a:rPr>
              <a:t>El productor depende de intermediarios y no sabe qué le exigen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2194560"/>
            <a:ext cx="2688336" cy="566928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2E6A86"/>
                </a:solidFill>
                <a:latin typeface="Calibri"/>
              </a:rPr>
              <a:t>Datos: </a:t>
            </a:r>
            <a:r>
              <a:rPr sz="1050" b="0">
                <a:solidFill>
                  <a:srgbClr val="1F2D26"/>
                </a:solidFill>
                <a:latin typeface="Calibri"/>
              </a:rPr>
              <a:t>El dato no se vuelve conocimiento: el lote no se traza hasta su predio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194560"/>
            <a:ext cx="2688336" cy="566928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8A5A2B"/>
                </a:solidFill>
                <a:latin typeface="Calibri"/>
              </a:rPr>
              <a:t>Procesos: </a:t>
            </a:r>
            <a:r>
              <a:rPr sz="1050" b="0">
                <a:solidFill>
                  <a:srgbClr val="1F2D26"/>
                </a:solidFill>
                <a:latin typeface="Calibri"/>
              </a:rPr>
              <a:t>La salida del proceso es evidencia de origen incompleta o inexistente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2194560"/>
            <a:ext cx="2688336" cy="566928"/>
          </a:xfrm>
          <a:prstGeom prst="roundRect">
            <a:avLst>
              <a:gd name="adj" fmla="val 12000"/>
            </a:avLst>
          </a:prstGeom>
          <a:solidFill>
            <a:srgbClr val="FDF3D6"/>
          </a:solidFill>
          <a:ln w="15875">
            <a:solidFill>
              <a:srgbClr val="A86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A86E12"/>
                </a:solidFill>
                <a:latin typeface="Calibri"/>
              </a:rPr>
              <a:t>Control: </a:t>
            </a:r>
            <a:r>
              <a:rPr sz="1050" b="0">
                <a:solidFill>
                  <a:srgbClr val="1F2D26"/>
                </a:solidFill>
                <a:latin typeface="Calibri"/>
              </a:rPr>
              <a:t>Las pérdidas no se registran: el sistema no corrige su propio comportamiento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80944"/>
            <a:ext cx="11137392" cy="1188720"/>
          </a:xfrm>
          <a:prstGeom prst="roundRect">
            <a:avLst>
              <a:gd name="adj" fmla="val 8000"/>
            </a:avLst>
          </a:prstGeom>
          <a:solidFill>
            <a:srgbClr val="14532D"/>
          </a:solidFill>
          <a:ln w="31750">
            <a:solidFill>
              <a:srgbClr val="F0C7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26663"/>
            <a:ext cx="10771632" cy="56692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mbria"/>
              </a:rPr>
              <a:t>En el sistema de acreditación de origen del Caquetá, el pequeño productor no puede demostrar que su producción es legal y libre de deforestación, porque sus actores, datos, procesos y mecanismos de control no están articulados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639311"/>
            <a:ext cx="2578608" cy="457200"/>
          </a:xfrm>
          <a:prstGeom prst="roundRect">
            <a:avLst>
              <a:gd name="adj" fmla="val 18000"/>
            </a:avLst>
          </a:prstGeom>
          <a:solidFill>
            <a:srgbClr val="F6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14532D"/>
                </a:solidFill>
                <a:latin typeface="Calibri"/>
              </a:rPr>
              <a:t>ACTORES:  </a:t>
            </a:r>
            <a:r>
              <a:rPr sz="950" b="0">
                <a:solidFill>
                  <a:srgbClr val="1F2D26"/>
                </a:solidFill>
                <a:latin typeface="Calibri"/>
              </a:rPr>
              <a:t>productor · gremios · ICA · IDEAM · CORPOAMAZONIA · ANT · 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4448" y="3639311"/>
            <a:ext cx="2578608" cy="457200"/>
          </a:xfrm>
          <a:prstGeom prst="roundRect">
            <a:avLst>
              <a:gd name="adj" fmla="val 18000"/>
            </a:avLst>
          </a:prstGeom>
          <a:solidFill>
            <a:srgbClr val="F6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2E6A86"/>
                </a:solidFill>
                <a:latin typeface="Calibri"/>
              </a:rPr>
              <a:t>DATOS:  </a:t>
            </a:r>
            <a:r>
              <a:rPr sz="950" b="0">
                <a:solidFill>
                  <a:srgbClr val="1F2D26"/>
                </a:solidFill>
                <a:latin typeface="Calibri"/>
              </a:rPr>
              <a:t>ubicación · superficie · cobertura · tenencia · lote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39311"/>
            <a:ext cx="2578608" cy="457200"/>
          </a:xfrm>
          <a:prstGeom prst="roundRect">
            <a:avLst>
              <a:gd name="adj" fmla="val 18000"/>
            </a:avLst>
          </a:prstGeom>
          <a:solidFill>
            <a:srgbClr val="F6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8A5A2B"/>
                </a:solidFill>
                <a:latin typeface="Calibri"/>
              </a:rPr>
              <a:t>PROCESOS:  </a:t>
            </a:r>
            <a:r>
              <a:rPr sz="950" b="0">
                <a:solidFill>
                  <a:srgbClr val="1F2D26"/>
                </a:solidFill>
                <a:latin typeface="Calibri"/>
              </a:rPr>
              <a:t>producir · documentar · movilizar · acopiar · acreditar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3639311"/>
            <a:ext cx="2578608" cy="457200"/>
          </a:xfrm>
          <a:prstGeom prst="roundRect">
            <a:avLst>
              <a:gd name="adj" fmla="val 18000"/>
            </a:avLst>
          </a:prstGeom>
          <a:solidFill>
            <a:srgbClr val="F6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A86E12"/>
                </a:solidFill>
                <a:latin typeface="Calibri"/>
              </a:rPr>
              <a:t>CONTROL:  </a:t>
            </a:r>
            <a:r>
              <a:rPr sz="950" b="0">
                <a:solidFill>
                  <a:srgbClr val="1F2D26"/>
                </a:solidFill>
                <a:latin typeface="Calibri"/>
              </a:rPr>
              <a:t>normativa · indicadores · retroalimentación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407408"/>
            <a:ext cx="2688336" cy="274320"/>
          </a:xfrm>
          <a:prstGeom prst="roundRect">
            <a:avLst>
              <a:gd name="adj" fmla="val 25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ACTORES  ·  ¿quién participa?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736592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La exigencia de la UE baja por compradores y gremios y recae en el productor, el de menos capacidad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294376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El productor no entiende la “debida diligencia” que pide la UE: llega en lenguaje técnico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852160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ICA (ganado), IDEAM (bosque) y ANT-IGAC (tierra) tienen cada uno una pieza; nadie tiene el expediente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057400" y="4169663"/>
            <a:ext cx="0" cy="237745"/>
          </a:xfrm>
          <a:prstGeom prst="line">
            <a:avLst/>
          </a:prstGeom>
          <a:ln w="22225">
            <a:solidFill>
              <a:srgbClr val="1453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057400" y="2761488"/>
            <a:ext cx="0" cy="219456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29584" y="4407408"/>
            <a:ext cx="2688336" cy="274320"/>
          </a:xfrm>
          <a:prstGeom prst="roundRect">
            <a:avLst>
              <a:gd name="adj" fmla="val 25000"/>
            </a:avLst>
          </a:prstGeom>
          <a:solidFill>
            <a:srgbClr val="2E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DATOS  ·  ¿qué información?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9584" y="4736592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El dato de origen no se genera en el predio: se anota en papel o de memoria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5294376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Ubicación y superficie del predio no existen de forma sistemática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9584" y="5852160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Cobertura boscosa solo a escala agregada; tenencia sin documentos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873752" y="4169663"/>
            <a:ext cx="0" cy="237745"/>
          </a:xfrm>
          <a:prstGeom prst="line">
            <a:avLst/>
          </a:prstGeom>
          <a:ln w="22225">
            <a:solidFill>
              <a:srgbClr val="2E6A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873752" y="2761488"/>
            <a:ext cx="0" cy="219456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45936" y="4407408"/>
            <a:ext cx="2688336" cy="274320"/>
          </a:xfrm>
          <a:prstGeom prst="roundRect">
            <a:avLst>
              <a:gd name="adj" fmla="val 25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PROCESOS  ·  ¿qué se hace?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45936" y="4736592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Documentar y acreditar depende de intermediarios y no es reproducible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5294376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Acopiar une varios predios en un lote sin conservar el origen de cada uno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5936" y="5852160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Movilizar se registra solo en lo sanitario: no cruza con lo ambiental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7690104" y="4169663"/>
            <a:ext cx="0" cy="237745"/>
          </a:xfrm>
          <a:prstGeom prst="line">
            <a:avLst/>
          </a:prstGeom>
          <a:ln w="22225">
            <a:solidFill>
              <a:srgbClr val="8A5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690104" y="2761488"/>
            <a:ext cx="0" cy="219456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62288" y="4407408"/>
            <a:ext cx="2688336" cy="274320"/>
          </a:xfrm>
          <a:prstGeom prst="roundRect">
            <a:avLst>
              <a:gd name="adj" fmla="val 25000"/>
            </a:avLst>
          </a:prstGeom>
          <a:solidFill>
            <a:srgbClr val="A86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CONTROL  ·  ¿cómo se evalúa?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288" y="4736592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FBF1DE"/>
          </a:solidFill>
          <a:ln w="11430">
            <a:solidFill>
              <a:srgbClr val="A86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No hay indicadores: nadie mide cuántos predios pueden acreditar su origen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62288" y="5294376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FBF1DE"/>
          </a:solidFill>
          <a:ln w="11430">
            <a:solidFill>
              <a:srgbClr val="A86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El requisito del comprador no está estandarizado: cada uno define el suyo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62288" y="5852160"/>
            <a:ext cx="2688336" cy="512064"/>
          </a:xfrm>
          <a:prstGeom prst="roundRect">
            <a:avLst>
              <a:gd name="adj" fmla="val 12000"/>
            </a:avLst>
          </a:prstGeom>
          <a:solidFill>
            <a:srgbClr val="FBF1DE"/>
          </a:solidFill>
          <a:ln w="11430">
            <a:solidFill>
              <a:srgbClr val="A86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F2D26"/>
                </a:solidFill>
                <a:latin typeface="Calibri"/>
              </a:rPr>
              <a:t>Sin retroalimentación: el sistema no detecta su propia falla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10506456" y="4169663"/>
            <a:ext cx="0" cy="237745"/>
          </a:xfrm>
          <a:prstGeom prst="line">
            <a:avLst/>
          </a:prstGeom>
          <a:ln w="22225">
            <a:solidFill>
              <a:srgbClr val="A86E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506456" y="2761488"/>
            <a:ext cx="0" cy="219456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057400" y="2084832"/>
            <a:ext cx="0" cy="109728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873752" y="2084832"/>
            <a:ext cx="0" cy="109728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690104" y="2084832"/>
            <a:ext cx="0" cy="109728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506456" y="2084832"/>
            <a:ext cx="0" cy="109728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057400" y="2084832"/>
            <a:ext cx="8449056" cy="0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526792" y="1975104"/>
            <a:ext cx="0" cy="109728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281928" y="1975104"/>
            <a:ext cx="0" cy="109728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037064" y="1975104"/>
            <a:ext cx="0" cy="109728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526792" y="1362456"/>
            <a:ext cx="0" cy="100584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281928" y="1362456"/>
            <a:ext cx="0" cy="100584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037064" y="1362456"/>
            <a:ext cx="0" cy="100584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26792" y="1362456"/>
            <a:ext cx="7510272" cy="0"/>
          </a:xfrm>
          <a:prstGeom prst="line">
            <a:avLst/>
          </a:prstGeom>
          <a:ln w="22225">
            <a:solidFill>
              <a:srgbClr val="F0C7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281928" y="1261872"/>
            <a:ext cx="0" cy="100584"/>
          </a:xfrm>
          <a:prstGeom prst="line">
            <a:avLst/>
          </a:prstGeom>
          <a:ln w="22225">
            <a:solidFill>
              <a:srgbClr val="F0C7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47472" y="6428232"/>
            <a:ext cx="11503151" cy="292608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64736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ctr"/>
            <a:r>
              <a:rPr sz="1000" b="1">
                <a:solidFill>
                  <a:srgbClr val="64736C"/>
                </a:solidFill>
                <a:latin typeface="Calibri"/>
              </a:rPr>
              <a:t>ENTORNO  </a:t>
            </a:r>
            <a:r>
              <a:rPr sz="1000" b="0">
                <a:solidFill>
                  <a:srgbClr val="1F2D26"/>
                </a:solidFill>
                <a:latin typeface="Calibri"/>
              </a:rPr>
              <a:t>(condiciona, no se controla desde el sistema):  conectividad rural  ·  informalidad en la tenencia  ·  presión sobre el bosque  ·  norma europea: Reglamento (UE) 2023/1115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91440"/>
            <a:ext cx="1152144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400" b="1">
                <a:solidFill>
                  <a:srgbClr val="14532D"/>
                </a:solidFill>
                <a:latin typeface="Cambria"/>
              </a:rPr>
              <a:t>Actores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475488"/>
            <a:ext cx="11521440" cy="27432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100" b="0">
                <a:solidFill>
                  <a:srgbClr val="64736C"/>
                </a:solidFill>
                <a:latin typeface="Calibri"/>
              </a:rPr>
              <a:t>¿Quién participa en la acreditación de origen en el Caquetá, qué papel cumple y qué función tiene?  ·  Nombres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804672"/>
            <a:ext cx="548640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50" b="1">
                <a:solidFill>
                  <a:srgbClr val="64736C"/>
                </a:solidFill>
                <a:latin typeface="Calibri"/>
              </a:rPr>
              <a:t>CÓMO BAJA LA EXIGENCIA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1024128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AF3ED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Unión Europea</a:t>
            </a:r>
          </a:p>
          <a:p>
            <a:pPr algn="ctr"/>
            <a:r>
              <a:rPr sz="850" b="0">
                <a:solidFill>
                  <a:srgbClr val="1F2D26"/>
                </a:solidFill>
                <a:latin typeface="Calibri"/>
              </a:rPr>
              <a:t>pone la norma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79" y="1307592"/>
            <a:ext cx="219457" cy="0"/>
          </a:xfrm>
          <a:prstGeom prst="line">
            <a:avLst/>
          </a:prstGeom>
          <a:ln w="22225">
            <a:solidFill>
              <a:srgbClr val="647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06624" y="1024128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AF3ED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Importador europeo</a:t>
            </a:r>
          </a:p>
          <a:p>
            <a:pPr algn="ctr"/>
            <a:r>
              <a:rPr sz="850" b="0">
                <a:solidFill>
                  <a:srgbClr val="1F2D26"/>
                </a:solidFill>
                <a:latin typeface="Calibri"/>
              </a:rPr>
              <a:t>declara la debida diligencia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28031" y="1307592"/>
            <a:ext cx="219457" cy="0"/>
          </a:xfrm>
          <a:prstGeom prst="line">
            <a:avLst/>
          </a:prstGeom>
          <a:ln w="22225">
            <a:solidFill>
              <a:srgbClr val="647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65776" y="1024128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AF3ED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Comprador / exportador</a:t>
            </a:r>
          </a:p>
          <a:p>
            <a:pPr algn="ctr"/>
            <a:r>
              <a:rPr sz="850" b="0">
                <a:solidFill>
                  <a:srgbClr val="1F2D26"/>
                </a:solidFill>
                <a:latin typeface="Calibri"/>
              </a:rPr>
              <a:t>Casa Luker, Nacional de Chocolates, frigoríficos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87183" y="1307592"/>
            <a:ext cx="219457" cy="0"/>
          </a:xfrm>
          <a:prstGeom prst="line">
            <a:avLst/>
          </a:prstGeom>
          <a:ln w="22225">
            <a:solidFill>
              <a:srgbClr val="647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24928" y="1024128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EAF3ED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4532D"/>
                </a:solidFill>
                <a:latin typeface="Calibri"/>
              </a:rPr>
              <a:t>Gremio o asociación</a:t>
            </a:r>
          </a:p>
          <a:p>
            <a:pPr algn="ctr"/>
            <a:r>
              <a:rPr sz="850" b="0">
                <a:solidFill>
                  <a:srgbClr val="1F2D26"/>
                </a:solidFill>
                <a:latin typeface="Calibri"/>
              </a:rPr>
              <a:t>Comité de Ganaderos, ASOHECA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46336" y="1307592"/>
            <a:ext cx="219456" cy="0"/>
          </a:xfrm>
          <a:prstGeom prst="line">
            <a:avLst/>
          </a:prstGeom>
          <a:ln w="22225">
            <a:solidFill>
              <a:srgbClr val="647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1024128"/>
            <a:ext cx="2103120" cy="566928"/>
          </a:xfrm>
          <a:prstGeom prst="roundRect">
            <a:avLst>
              <a:gd name="adj" fmla="val 12000"/>
            </a:avLst>
          </a:prstGeom>
          <a:solidFill>
            <a:srgbClr val="14532D"/>
          </a:solidFill>
          <a:ln w="1587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Pequeño productor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Caquetá: donde nace el dato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1783080"/>
            <a:ext cx="3712463" cy="310896"/>
          </a:xfrm>
          <a:prstGeom prst="roundRect">
            <a:avLst>
              <a:gd name="adj" fmla="val 2500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EN EL TERRITORIO · producen y se organizan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2157984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4532D"/>
                </a:solidFill>
                <a:latin typeface="Calibri"/>
              </a:rPr>
              <a:t>Pequeño productor (ganadero, cacaotero, cauchero)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Produce y es donde nace el dato del predio. Último eslabón: termina cargando la exigencia.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907791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4532D"/>
                </a:solidFill>
                <a:latin typeface="Calibri"/>
              </a:rPr>
              <a:t>Comité Departamental de Ganaderos del Caquetá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Gremio regional: agrupa y representa a los ganaderos del departamento.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3657600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4532D"/>
                </a:solidFill>
                <a:latin typeface="Calibri"/>
              </a:rPr>
              <a:t>ASOHECA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Asociación de caucheros del Caquetá (planta en La Montañita): agrupa productores y vende el caucho.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4407408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4532D"/>
                </a:solidFill>
                <a:latin typeface="Calibri"/>
              </a:rPr>
              <a:t>Fedegán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Gremio ganadero nacional: administra el Fondo Nacional del Ganado; firmó el acuerdo de cero deforestación.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5157216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4532D"/>
                </a:solidFill>
                <a:latin typeface="Calibri"/>
              </a:rPr>
              <a:t>Fedecacao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Gremio cacaotero nacional: orienta a los productores sobre los requisitos de la 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5907024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8F2EB"/>
          </a:solidFill>
          <a:ln w="1143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14532D"/>
                </a:solidFill>
                <a:latin typeface="Calibri"/>
              </a:rPr>
              <a:t>Acopiadores de leche y queseras rurales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Reciben la leche de muchas fincas y la juntan: el origen de cada finca se pierde.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1783080"/>
            <a:ext cx="3712463" cy="310896"/>
          </a:xfrm>
          <a:prstGeom prst="roundRect">
            <a:avLst>
              <a:gd name="adj" fmla="val 25000"/>
            </a:avLst>
          </a:prstGeom>
          <a:solidFill>
            <a:srgbClr val="2E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EL ESTADO · registra y controla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2816" y="2157984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2E6A86"/>
                </a:solidFill>
                <a:latin typeface="Calibri"/>
              </a:rPr>
              <a:t>ICA (Instituto Colombiano Agropecuario)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Identifica el ganado en SINIGAN y expide las Guías Sanitarias de Movilización Interna.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16" y="2907791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2E6A86"/>
                </a:solidFill>
                <a:latin typeface="Calibri"/>
              </a:rPr>
              <a:t>IDEAM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Monitorea los bosques (SMByC) y publica alertas tempranas de deforestación cada trimestre.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657600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2E6A86"/>
                </a:solidFill>
                <a:latin typeface="Calibri"/>
              </a:rPr>
              <a:t>CORPOAMAZONIA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Autoridad ambiental de Caquetá, Putumayo y Amazonas (sede en Florencia): permisos y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2816" y="4407408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2E6A86"/>
                </a:solidFill>
                <a:latin typeface="Calibri"/>
              </a:rPr>
              <a:t>Agencia Nacional de Tierras (ANT)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Formaliza la propiedad de la tierra y adjudica baldíos a campesinos.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2816" y="5157216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2E6A86"/>
                </a:solidFill>
                <a:latin typeface="Calibri"/>
              </a:rPr>
              <a:t>IGAC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Autoridad de catastro: dónde queda y cuánto mide cada predio.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5907024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E6F0F5"/>
          </a:solidFill>
          <a:ln w="11430">
            <a:solidFill>
              <a:srgbClr val="2E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2E6A86"/>
                </a:solidFill>
                <a:latin typeface="Calibri"/>
              </a:rPr>
              <a:t>Ministerio de Ambiente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Política ambiental: programa Visión Amazonía y acuerdos de cero deforestación.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783080"/>
            <a:ext cx="3712463" cy="310896"/>
          </a:xfrm>
          <a:prstGeom prst="roundRect">
            <a:avLst>
              <a:gd name="adj" fmla="val 25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COMPRAN, EXIGEN Y APOYAN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157984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8A5A2B"/>
                </a:solidFill>
                <a:latin typeface="Calibri"/>
              </a:rPr>
              <a:t>Unión Europea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Reglamento (UE) 2023/1115: probar que el producto no viene de deforestación después del 31-12-2020.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907791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8A5A2B"/>
                </a:solidFill>
                <a:latin typeface="Calibri"/>
              </a:rPr>
              <a:t>Importadores europeos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Deben presentar la declaración de debida diligencia con la ubicación de cada parcela.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657600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8A5A2B"/>
                </a:solidFill>
                <a:latin typeface="Calibri"/>
              </a:rPr>
              <a:t>Casa Luker y Compañía Nacional de Chocolates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Los principales compradores de cacao del país (cerca del 90 %).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407408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8A5A2B"/>
                </a:solidFill>
                <a:latin typeface="Calibri"/>
              </a:rPr>
              <a:t>Automundial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Comprador del caucho de ASOHECA mediante un acuerdo comercial.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5157216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8A5A2B"/>
                </a:solidFill>
                <a:latin typeface="Calibri"/>
              </a:rPr>
              <a:t>Instituto SINCHI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Autoridad científica de la Amazonia (sede en Florencia): monitorea las coberturas de la tierra.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5907024"/>
            <a:ext cx="3712463" cy="694944"/>
          </a:xfrm>
          <a:prstGeom prst="roundRect">
            <a:avLst>
              <a:gd name="adj" fmla="val 12000"/>
            </a:avLst>
          </a:prstGeom>
          <a:solidFill>
            <a:srgbClr val="F5ECE3"/>
          </a:solidFill>
          <a:ln w="11430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050" b="1">
                <a:solidFill>
                  <a:srgbClr val="8A5A2B"/>
                </a:solidFill>
                <a:latin typeface="Calibri"/>
              </a:rPr>
              <a:t>Universidad de la Amazonia</a:t>
            </a:r>
          </a:p>
          <a:p>
            <a:pPr algn="l"/>
            <a:r>
              <a:rPr sz="950" b="0">
                <a:solidFill>
                  <a:srgbClr val="1F2D26"/>
                </a:solidFill>
                <a:latin typeface="Calibri"/>
              </a:rPr>
              <a:t>Investiga el territorio; con SINCHI y ASOHECA mejoró el material genético del caucho.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6601968"/>
            <a:ext cx="11521440" cy="21945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850" b="0">
                <a:solidFill>
                  <a:srgbClr val="64736C"/>
                </a:solidFill>
                <a:latin typeface="Calibri"/>
              </a:rPr>
              <a:t>Fuentes: ICA, IDEAM, CORPOAMAZONIA (Ley 99 de 1993), ANT, Instituto SINCHI, Ministerio de Ambiente, Comisión Europea, Contexto Ganadero y Las2orillas.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